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charts/chart5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6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84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100" b="0" i="0" u="none" strike="noStrike">
                <a:solidFill>
                  <a:srgbClr val="000000"/>
                </a:solidFill>
                <a:latin typeface="Arial"/>
              </a:rPr>
              <a:t>Normalized Price Growth (Base = 1, 2014)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BTC</c:v>
                </c:pt>
              </c:strCache>
            </c:strRef>
          </c:tx>
          <c:spPr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  <c:pt idx="11">
                  <c:v>2025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1.2</c:v>
                </c:pt>
                <c:pt idx="2">
                  <c:v>2.5</c:v>
                </c:pt>
                <c:pt idx="3">
                  <c:v>40</c:v>
                </c:pt>
                <c:pt idx="4">
                  <c:v>10</c:v>
                </c:pt>
                <c:pt idx="5">
                  <c:v>15</c:v>
                </c:pt>
                <c:pt idx="6">
                  <c:v>15</c:v>
                </c:pt>
                <c:pt idx="7">
                  <c:v>80</c:v>
                </c:pt>
                <c:pt idx="8">
                  <c:v>30</c:v>
                </c:pt>
                <c:pt idx="9">
                  <c:v>50</c:v>
                </c:pt>
                <c:pt idx="10">
                  <c:v>90</c:v>
                </c:pt>
                <c:pt idx="11">
                  <c:v>250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C9D-4C27-9392-AF7C2236367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S&amp;P 500</c:v>
                </c:pt>
              </c:strCache>
            </c:strRef>
          </c:tx>
          <c:spPr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  <c:pt idx="11">
                  <c:v>2025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</c:v>
                </c:pt>
                <c:pt idx="1">
                  <c:v>1</c:v>
                </c:pt>
                <c:pt idx="2">
                  <c:v>1.1000000000000001</c:v>
                </c:pt>
                <c:pt idx="3">
                  <c:v>1.4</c:v>
                </c:pt>
                <c:pt idx="4">
                  <c:v>1.3</c:v>
                </c:pt>
                <c:pt idx="5">
                  <c:v>1.7</c:v>
                </c:pt>
                <c:pt idx="6">
                  <c:v>1.6</c:v>
                </c:pt>
                <c:pt idx="7">
                  <c:v>2.2999999999999998</c:v>
                </c:pt>
                <c:pt idx="8">
                  <c:v>1.9</c:v>
                </c:pt>
                <c:pt idx="9">
                  <c:v>2.4</c:v>
                </c:pt>
                <c:pt idx="10">
                  <c:v>2.9</c:v>
                </c:pt>
                <c:pt idx="11">
                  <c:v>3.5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7C9D-4C27-9392-AF7C2236367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Gold</c:v>
                </c:pt>
              </c:strCache>
            </c:strRef>
          </c:tx>
          <c:spPr>
            <a:ln w="25400" cap="flat">
              <a:solidFill>
                <a:srgbClr val="AAAAA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AAAAA"/>
              </a:solidFill>
              <a:ln w="9525" cap="flat">
                <a:solidFill>
                  <a:srgbClr val="AAAAAA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  <c:pt idx="11">
                  <c:v>2025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</c:v>
                </c:pt>
                <c:pt idx="1">
                  <c:v>0.9</c:v>
                </c:pt>
                <c:pt idx="2">
                  <c:v>1</c:v>
                </c:pt>
                <c:pt idx="3">
                  <c:v>1.1000000000000001</c:v>
                </c:pt>
                <c:pt idx="4">
                  <c:v>1.1000000000000001</c:v>
                </c:pt>
                <c:pt idx="5">
                  <c:v>1.3</c:v>
                </c:pt>
                <c:pt idx="6">
                  <c:v>1.6</c:v>
                </c:pt>
                <c:pt idx="7">
                  <c:v>1.5</c:v>
                </c:pt>
                <c:pt idx="8">
                  <c:v>1.6</c:v>
                </c:pt>
                <c:pt idx="9">
                  <c:v>1.8</c:v>
                </c:pt>
                <c:pt idx="10">
                  <c:v>2.1</c:v>
                </c:pt>
                <c:pt idx="11">
                  <c:v>2.4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7C9D-4C27-9392-AF7C223636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000000"/>
                </a:solidFill>
                <a:latin typeface="Arial"/>
              </a:rPr>
              <a:t>VaR &amp; CVaR at 95% Confidence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 5%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BTC</c:v>
                </c:pt>
                <c:pt idx="1">
                  <c:v>Gold</c:v>
                </c:pt>
                <c:pt idx="2">
                  <c:v>S&amp;P 500</c:v>
                </c:pt>
                <c:pt idx="3">
                  <c:v>VIX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5.21</c:v>
                </c:pt>
                <c:pt idx="1">
                  <c:v>1.26</c:v>
                </c:pt>
                <c:pt idx="2">
                  <c:v>1.36</c:v>
                </c:pt>
                <c:pt idx="3">
                  <c:v>9.61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C5-4C06-A427-7AD0D127AD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CVaR 5%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BTC</c:v>
                </c:pt>
                <c:pt idx="1">
                  <c:v>Gold</c:v>
                </c:pt>
                <c:pt idx="2">
                  <c:v>S&amp;P 500</c:v>
                </c:pt>
                <c:pt idx="3">
                  <c:v>VIX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8.3800000000000008</c:v>
                </c:pt>
                <c:pt idx="1">
                  <c:v>1.97</c:v>
                </c:pt>
                <c:pt idx="2">
                  <c:v>2.3199999999999998</c:v>
                </c:pt>
                <c:pt idx="3">
                  <c:v>13.8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7C5-4C06-A427-7AD0D127AD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000" b="0" i="0" u="none" strike="noStrike">
                <a:solidFill>
                  <a:srgbClr val="000000"/>
                </a:solidFill>
                <a:latin typeface="Arial"/>
              </a:rPr>
              <a:t>Annualized Return by Macro Regime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BTC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High Inflation</c:v>
                </c:pt>
                <c:pt idx="1">
                  <c:v>Normal</c:v>
                </c:pt>
                <c:pt idx="2">
                  <c:v>Risk-Off</c:v>
                </c:pt>
                <c:pt idx="3">
                  <c:v>Tight Policy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109.5</c:v>
                </c:pt>
                <c:pt idx="1">
                  <c:v>81.2</c:v>
                </c:pt>
                <c:pt idx="2">
                  <c:v>24.4</c:v>
                </c:pt>
                <c:pt idx="3">
                  <c:v>44.4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69-4D83-88A6-98E0289C7CD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S&amp;P 500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High Inflation</c:v>
                </c:pt>
                <c:pt idx="1">
                  <c:v>Normal</c:v>
                </c:pt>
                <c:pt idx="2">
                  <c:v>Risk-Off</c:v>
                </c:pt>
                <c:pt idx="3">
                  <c:v>Tight Policy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56.9</c:v>
                </c:pt>
                <c:pt idx="1">
                  <c:v>17.3</c:v>
                </c:pt>
                <c:pt idx="2">
                  <c:v>-7.7</c:v>
                </c:pt>
                <c:pt idx="3">
                  <c:v>30.5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669-4D83-88A6-98E0289C7CD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Gold</c:v>
                </c:pt>
              </c:strCache>
            </c:strRef>
          </c:tx>
          <c:spPr>
            <a:solidFill>
              <a:srgbClr val="AAAAA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High Inflation</c:v>
                </c:pt>
                <c:pt idx="1">
                  <c:v>Normal</c:v>
                </c:pt>
                <c:pt idx="2">
                  <c:v>Risk-Off</c:v>
                </c:pt>
                <c:pt idx="3">
                  <c:v>Tight Policy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10.6</c:v>
                </c:pt>
                <c:pt idx="1">
                  <c:v>-3.9</c:v>
                </c:pt>
                <c:pt idx="2">
                  <c:v>12.3</c:v>
                </c:pt>
                <c:pt idx="3">
                  <c:v>10.4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669-4D83-88A6-98E0289C7C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Portfolios</c:v>
                </c:pt>
              </c:strCache>
            </c:strRef>
          </c:tx>
          <c:spPr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0.06</c:v>
                </c:pt>
                <c:pt idx="1">
                  <c:v>0.09</c:v>
                </c:pt>
                <c:pt idx="2">
                  <c:v>0.12</c:v>
                </c:pt>
                <c:pt idx="3">
                  <c:v>0.18</c:v>
                </c:pt>
                <c:pt idx="4">
                  <c:v>0.25</c:v>
                </c:pt>
                <c:pt idx="5">
                  <c:v>0.35</c:v>
                </c:pt>
                <c:pt idx="6">
                  <c:v>0.45</c:v>
                </c:pt>
                <c:pt idx="7">
                  <c:v>0.55000000000000004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4.4999999999999998E-2</c:v>
                </c:pt>
                <c:pt idx="1">
                  <c:v>6.2E-2</c:v>
                </c:pt>
                <c:pt idx="2">
                  <c:v>8.5000000000000006E-2</c:v>
                </c:pt>
                <c:pt idx="3">
                  <c:v>0.11</c:v>
                </c:pt>
                <c:pt idx="4">
                  <c:v>0.13</c:v>
                </c:pt>
                <c:pt idx="5">
                  <c:v>0.16</c:v>
                </c:pt>
                <c:pt idx="6">
                  <c:v>0.18</c:v>
                </c:pt>
                <c:pt idx="7">
                  <c:v>0.22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D6B-4EA9-99C0-8FF5947E19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000" b="0" i="0" u="none" strike="noStrike">
                <a:solidFill>
                  <a:srgbClr val="000000"/>
                </a:solidFill>
                <a:latin typeface="Arial"/>
              </a:rPr>
              <a:t>Return vs Risk as BTC Allocation Increases (0%–50%)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Annualized Return</c:v>
                </c:pt>
              </c:strCache>
            </c:strRef>
          </c:tx>
          <c:spPr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0%</c:v>
                </c:pt>
                <c:pt idx="1">
                  <c:v>5%</c:v>
                </c:pt>
                <c:pt idx="2">
                  <c:v>10%</c:v>
                </c:pt>
                <c:pt idx="3">
                  <c:v>15%</c:v>
                </c:pt>
                <c:pt idx="4">
                  <c:v>20%</c:v>
                </c:pt>
                <c:pt idx="5">
                  <c:v>25%</c:v>
                </c:pt>
                <c:pt idx="6">
                  <c:v>30%</c:v>
                </c:pt>
                <c:pt idx="7">
                  <c:v>35%</c:v>
                </c:pt>
                <c:pt idx="8">
                  <c:v>40%</c:v>
                </c:pt>
                <c:pt idx="9">
                  <c:v>45%</c:v>
                </c:pt>
                <c:pt idx="10">
                  <c:v>50%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8.2000000000000003E-2</c:v>
                </c:pt>
                <c:pt idx="1">
                  <c:v>9.2999999999999999E-2</c:v>
                </c:pt>
                <c:pt idx="2">
                  <c:v>0.10299999999999999</c:v>
                </c:pt>
                <c:pt idx="3">
                  <c:v>0.115</c:v>
                </c:pt>
                <c:pt idx="4">
                  <c:v>0.125</c:v>
                </c:pt>
                <c:pt idx="5">
                  <c:v>0.13800000000000001</c:v>
                </c:pt>
                <c:pt idx="6">
                  <c:v>0.14799999999999999</c:v>
                </c:pt>
                <c:pt idx="7">
                  <c:v>0.158</c:v>
                </c:pt>
                <c:pt idx="8">
                  <c:v>0.16800000000000001</c:v>
                </c:pt>
                <c:pt idx="9">
                  <c:v>0.17799999999999999</c:v>
                </c:pt>
                <c:pt idx="10">
                  <c:v>0.188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492-4DB5-9BA9-5C7BD159BC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Volatility (Risk)</c:v>
                </c:pt>
              </c:strCache>
            </c:strRef>
          </c:tx>
          <c:spPr>
            <a:ln w="31750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0%</c:v>
                </c:pt>
                <c:pt idx="1">
                  <c:v>5%</c:v>
                </c:pt>
                <c:pt idx="2">
                  <c:v>10%</c:v>
                </c:pt>
                <c:pt idx="3">
                  <c:v>15%</c:v>
                </c:pt>
                <c:pt idx="4">
                  <c:v>20%</c:v>
                </c:pt>
                <c:pt idx="5">
                  <c:v>25%</c:v>
                </c:pt>
                <c:pt idx="6">
                  <c:v>30%</c:v>
                </c:pt>
                <c:pt idx="7">
                  <c:v>35%</c:v>
                </c:pt>
                <c:pt idx="8">
                  <c:v>40%</c:v>
                </c:pt>
                <c:pt idx="9">
                  <c:v>45%</c:v>
                </c:pt>
                <c:pt idx="10">
                  <c:v>50%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0.122</c:v>
                </c:pt>
                <c:pt idx="1">
                  <c:v>0.128</c:v>
                </c:pt>
                <c:pt idx="2">
                  <c:v>0.13700000000000001</c:v>
                </c:pt>
                <c:pt idx="3">
                  <c:v>0.15</c:v>
                </c:pt>
                <c:pt idx="4">
                  <c:v>0.16400000000000001</c:v>
                </c:pt>
                <c:pt idx="5">
                  <c:v>0.17799999999999999</c:v>
                </c:pt>
                <c:pt idx="6">
                  <c:v>0.19500000000000001</c:v>
                </c:pt>
                <c:pt idx="7">
                  <c:v>0.21199999999999999</c:v>
                </c:pt>
                <c:pt idx="8">
                  <c:v>0.22800000000000001</c:v>
                </c:pt>
                <c:pt idx="9">
                  <c:v>0.248</c:v>
                </c:pt>
                <c:pt idx="10">
                  <c:v>0.26800000000000002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492-4DB5-9BA9-5C7BD159BC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000000"/>
                </a:solidFill>
                <a:latin typeface="Arial"/>
              </a:rPr>
              <a:t>Strategy Allocation Frequency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Strategy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0A9-448F-A19B-AE1C21C5C63B}"/>
              </c:ext>
            </c:extLst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0A9-448F-A19B-AE1C21C5C63B}"/>
              </c:ext>
            </c:extLst>
          </c:dPt>
          <c:dPt>
            <c:idx val="2"/>
            <c:bubble3D val="0"/>
            <c:spPr>
              <a:solidFill>
                <a:srgbClr val="2563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0A9-448F-A19B-AE1C21C5C63B}"/>
              </c:ext>
            </c:extLst>
          </c:dPt>
          <c:dPt>
            <c:idx val="3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0A9-448F-A19B-AE1C21C5C63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0A9-448F-A19B-AE1C21C5C63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0A9-448F-A19B-AE1C21C5C63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0A9-448F-A19B-AE1C21C5C63B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0A9-448F-A19B-AE1C21C5C63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Inflation Hedge
(BTC+Gold)</c:v>
                </c:pt>
                <c:pt idx="1">
                  <c:v>Growth Mode
(SP500+BTC)</c:v>
                </c:pt>
                <c:pt idx="2">
                  <c:v>Defensive
(SP500+Gold)</c:v>
                </c:pt>
                <c:pt idx="3">
                  <c:v>Risk-Off
(Gold Only)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40.1</c:v>
                </c:pt>
                <c:pt idx="1">
                  <c:v>30.6</c:v>
                </c:pt>
                <c:pt idx="2">
                  <c:v>15.6</c:v>
                </c:pt>
                <c:pt idx="3">
                  <c:v>13.7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0A9-448F-A19B-AE1C21C5C6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0921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the project: a full-stack financial analysis of Bitcoin vs Gold, S&amp;P 500, VIX, FED Rate, and CPI using 2014–2026 data, covering 7 modules: Data Engineering, EDA, Risk &amp; Volatility, Macro Relationships, ML &amp; Prediction, Portfolio Optimization, and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audience through the 8 sections of the presentation. Each section maps to a module from the Jupyter notebook. Emphasize the progression from raw data to executive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research questions drive the entire project. Emphasize that the study uses 11+ years of data (2014–2026) covering 4,451 daily observations across 6 macro-financial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spans Jan 2014 – Apr 2026. Missing values were handled with forward-fill then backward-fill. After full feature engineering, 2,812 valid observations remained. Key challenge: bridging daily market data with monthly macro series.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decision to use log returns instead of simple returns: log returns are additive over time and stabilize variance — critical for GARCH and regression models. Stationarity confirmed via ADF test (all p-values ≈ 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BTC's normalized growth of ~250× dwarfs traditional assets, but this comes with extreme kurtosis (13.07) and the highest maximum drawdown of –88.6%. The negative skewness across all assets signals asymmetric downside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 finding: BTC's correlation with the S&amp;P 500 started near 0 in 2014–2018 but rose to 0.56 by end 2025. This institutionalization effect reduces BTC's portfolio diversification benefit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GARCH(1,1) confirms strong volatility clustering (β=0.8232): once volatile, BTC stays volatile for multiple sessions. High CVaR (-8.38%) means extreme losses are severe. Despite this, Sharpe ratios are surprisingly similar across all three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one of the most important slides. The OLS model debunks the 'digital gold' and 'inflation hedge' narratives. Only the S&amp;P 500 coefficient is statistically significant. R²=0.045 means 96% of BTC's movement is driven by crypto-specific factors like ETF flows, halving cycles, and whale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regime analysis table (Out[43]) from the code shows this clearly. Key message: Gold is the only asset to hold value during Risk-Off. BTC performs best in inflationary, high-liquidity environments — aligning with the 'cheap money'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Monte Carlo with 10,000 simulations across all 6 assets. The Max Sharpe portfolio allocates only ~4% to BTC — confirming that small BTC allocations maximize risk-adjusted performance without incurring the extreme drawdowns of concentrated crypto exposure.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BTC allocation analysis (In[75-76]) shows a diminishing Sharpe return beyond 20% BTC. The sweet spot balances Bitcoin's high-return potential with manageable volatility drag. This aligns with institutional allocation frameworks (most recommend 1–5% for conservative, up to 20% for aggressive).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Streamlit dashboard (app.py) provides a live, interactive front-end for all analyses. Key technical note: KMeans clustering (3 regimes) runs on volatility + VIX + returns features. The portfolio tab uses 1,200 Monte Carlo simulations for real-time visualization.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macro-regime-triggered strategy (In[81-82]) outperforms Buy &amp; Hold SP500 substantially, delivers a smoother return curve than Buy &amp; Hold BTC, and limits max drawdown to −15.3% vs BTC's −88.6%. Inflation and Growth regimes dominate 70% of the timeline — justifying the higher BTC weighting in those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all 6 findings before moving to recommendations. Emphasize the academic and practical contributions: the 'digital gold' narrative is empirically challenged, macro-regime-based tactical allocation is validated, and the Streamlit dashboard makes this analysis accessible in real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the Moderate portfolio (60/20/20) most closely matches the Max Sharpe output from Monte Carlo. The dynamic overlay (regime rules) can be applied to any base portfolio. Always use trailing stop-losses during Risk-Off periods.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Emphasize the three takeaways: (1) data challenges myths, (2) macro signals are alpha, and (3) dynamic diversification beats static allocation. Open to Q&amp;A. Mention the Streamlit dashboard is live and can demonstrate real-time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0"/>
            <a:ext cx="2651760" cy="5143500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629400" y="1097280"/>
            <a:ext cx="73152" cy="2286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922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FINANCIAL ANALYSIS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5943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vs. Traditional Assets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Gold, S&amp;P 500 &amp; Macro Indicators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16459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Modeling  ·  Volatility Analysis  ·  Portfolio Optimization 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6697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38528" y="366979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Data-Nomics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401726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38528" y="401726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Taranjeet Singh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34213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38528" y="434213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0" y="1280160"/>
            <a:ext cx="201168" cy="45720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059168" y="1737360"/>
            <a:ext cx="201168" cy="54864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260336" y="2286000"/>
            <a:ext cx="201168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461504" y="1920240"/>
            <a:ext cx="201168" cy="64008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662672" y="2560320"/>
            <a:ext cx="201168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863840" y="2103120"/>
            <a:ext cx="201168" cy="64008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065008" y="2743200"/>
            <a:ext cx="201168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266176" y="2377440"/>
            <a:ext cx="201168" cy="64008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467344" y="3017520"/>
            <a:ext cx="201168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20040" y="11887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77240" y="2743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Roadmap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40233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Modules · 51 Topics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64008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832104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15568" y="832104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1783080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1837944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15568" y="1837944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&amp; Preprocessing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2788920"/>
            <a:ext cx="64008" cy="80467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2843784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15568" y="2843784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79476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3794760"/>
            <a:ext cx="64008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8640" y="3849624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15568" y="3849624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Volatility Analysis (GARCH, VaR)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77724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800600" y="777240"/>
            <a:ext cx="64008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983480" y="832104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550408" y="832104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Relationships &amp; Factor Analysis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178308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7" name="Shape 25"/>
          <p:cNvSpPr/>
          <p:nvPr/>
        </p:nvSpPr>
        <p:spPr>
          <a:xfrm>
            <a:off x="4800600" y="1783080"/>
            <a:ext cx="64008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983480" y="1837944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550408" y="1837944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</a:t>
            </a:r>
          </a:p>
        </p:txBody>
      </p:sp>
      <p:sp>
        <p:nvSpPr>
          <p:cNvPr id="30" name="Shape 28"/>
          <p:cNvSpPr/>
          <p:nvPr/>
        </p:nvSpPr>
        <p:spPr>
          <a:xfrm>
            <a:off x="4800600" y="278892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800600" y="2788920"/>
            <a:ext cx="64008" cy="8046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983480" y="2843784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550408" y="2843784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Optimization &amp; Strategy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00600" y="379476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800600" y="3794760"/>
            <a:ext cx="64008" cy="8046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983480" y="3849624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550408" y="3849624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&amp; Conclusions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20040" y="11887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77240" y="2743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40233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Study Answers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30352" y="1069848"/>
            <a:ext cx="530352" cy="530352"/>
          </a:xfrm>
          <a:prstGeom prst="ellipse">
            <a:avLst/>
          </a:prstGeom>
          <a:solidFill>
            <a:srgbClr val="E2E8F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30352" y="106984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978408"/>
            <a:ext cx="3154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Bitcoin a risk asset or digital gold?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777240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09160" y="777240"/>
            <a:ext cx="64008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873752" y="1069848"/>
            <a:ext cx="530352" cy="530352"/>
          </a:xfrm>
          <a:prstGeom prst="ellipse">
            <a:avLst/>
          </a:prstGeom>
          <a:solidFill>
            <a:srgbClr val="E2E8F0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73752" y="106984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32120" y="978408"/>
            <a:ext cx="3154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BTC hedge inflation (CPI)?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2130552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65760" y="2130552"/>
            <a:ext cx="64008" cy="114300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30352" y="2423160"/>
            <a:ext cx="530352" cy="530352"/>
          </a:xfrm>
          <a:prstGeom prst="ellipse">
            <a:avLst/>
          </a:prstGeom>
          <a:solidFill>
            <a:srgbClr val="E2E8F0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30352" y="242316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2331720"/>
            <a:ext cx="3154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macro regimes shape asset performance?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09160" y="2130552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09160" y="2130552"/>
            <a:ext cx="64008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873752" y="2423160"/>
            <a:ext cx="530352" cy="530352"/>
          </a:xfrm>
          <a:prstGeom prst="ellipse">
            <a:avLst/>
          </a:prstGeom>
          <a:solidFill>
            <a:srgbClr val="E2E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873752" y="242316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32120" y="2331720"/>
            <a:ext cx="3154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optimal BTC weight in a portfolio?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5760" y="3483864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65760" y="3483864"/>
            <a:ext cx="64008" cy="1143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30352" y="3776472"/>
            <a:ext cx="530352" cy="530352"/>
          </a:xfrm>
          <a:prstGeom prst="ellipse">
            <a:avLst/>
          </a:prstGeom>
          <a:solidFill>
            <a:srgbClr val="E2E8F0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30352" y="37764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88720" y="3685032"/>
            <a:ext cx="3154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ML accurately classify market regimes?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09160" y="3483864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709160" y="3483864"/>
            <a:ext cx="64008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873752" y="3776472"/>
            <a:ext cx="530352" cy="530352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873752" y="37764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532120" y="3685032"/>
            <a:ext cx="3154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strategy beats Buy &amp; Hold over a decade?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20040" y="11887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77240" y="2743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40233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Multi-Asset Dataset (2014–2026)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777240"/>
            <a:ext cx="1828800" cy="1005840"/>
          </a:xfrm>
          <a:prstGeom prst="rect">
            <a:avLst/>
          </a:prstGeom>
          <a:solidFill>
            <a:srgbClr val="132040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47472" y="777240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38912" y="84124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4,451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38912" y="14173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Observations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777240"/>
            <a:ext cx="1828800" cy="1005840"/>
          </a:xfrm>
          <a:prstGeom prst="rect">
            <a:avLst/>
          </a:prstGeom>
          <a:solidFill>
            <a:srgbClr val="1320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468880" y="777240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60320" y="84124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2,812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60320" y="14173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Daily Returns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90288" y="777240"/>
            <a:ext cx="1828800" cy="1005840"/>
          </a:xfrm>
          <a:prstGeom prst="rect">
            <a:avLst/>
          </a:prstGeom>
          <a:solidFill>
            <a:srgbClr val="132040"/>
          </a:solidFill>
          <a:ln w="12700">
            <a:solidFill>
              <a:srgbClr val="2563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90288" y="777240"/>
            <a:ext cx="64008" cy="10058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681728" y="84124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81728" y="14173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Tracked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11696" y="777240"/>
            <a:ext cx="1828800" cy="1005840"/>
          </a:xfrm>
          <a:prstGeom prst="rect">
            <a:avLst/>
          </a:prstGeom>
          <a:solidFill>
            <a:srgbClr val="132040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711696" y="777240"/>
            <a:ext cx="64008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803136" y="84124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yrs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03136" y="14173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Horizon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938528"/>
          <a:ext cx="7818120" cy="2688336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Bitcoin (BTC)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Crypto / Risk Asset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Yahoo Finance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(GLD)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 Haven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Yahoo Finance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 500 (SP500)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Market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Yahoo Finance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VIX Index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Fear Gauge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CBOE / Yahoo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Federal Reserve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 Inflation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Inflation Measure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BLS / FRED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20040" y="11887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77240" y="2743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Pipeline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40233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Preprocessing &amp; Feature Creation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777240"/>
            <a:ext cx="8458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47472" y="777240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12064" y="877824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12064" y="8778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813816"/>
            <a:ext cx="2194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Raw CSV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55264" y="813816"/>
            <a:ext cx="54406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final_master_dataset_2014_present.csv  ·  4,451 rows × 7 columns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472" y="1472184"/>
            <a:ext cx="8458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47472" y="1472184"/>
            <a:ext cx="64008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12064" y="157276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12064" y="15727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1508760"/>
            <a:ext cx="2194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Alignment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55264" y="1508760"/>
            <a:ext cx="54406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to daily (D) frequency via forward-fill  ·  Sync monthly macro to daily market data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2167128"/>
            <a:ext cx="8458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47472" y="2167128"/>
            <a:ext cx="64008" cy="59436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12064" y="2267712"/>
            <a:ext cx="384048" cy="384048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12064" y="2267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2203704"/>
            <a:ext cx="2194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Treatment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55264" y="2203704"/>
            <a:ext cx="54406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ffill → bfill chaining  ·  BTC: 328 → 0 gaps  ·  Gold: 1,435 → 0 gaps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7472" y="2862072"/>
            <a:ext cx="8458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47472" y="2862072"/>
            <a:ext cx="64008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12064" y="2962656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12064" y="2962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05840" y="2898648"/>
            <a:ext cx="2194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Return Computation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55264" y="2898648"/>
            <a:ext cx="54406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Rₜ = log(Pₜ / Pₜ₋₁)  ·  Zeros replaced with NaN  ·  2,812 clean returns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7472" y="3557016"/>
            <a:ext cx="8458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7472" y="3557016"/>
            <a:ext cx="64008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12064" y="3657600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12064" y="3657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05840" y="3593592"/>
            <a:ext cx="2194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55264" y="3593592"/>
            <a:ext cx="54406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30-day mean &amp; volatility  ·  60-day rolling correlation  ·  Lagged returns (1, 2 days)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47472" y="4251960"/>
            <a:ext cx="8458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347472" y="4251960"/>
            <a:ext cx="64008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512064" y="4352544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12064" y="4352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05840" y="4288536"/>
            <a:ext cx="2194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Normalization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255264" y="4288536"/>
            <a:ext cx="54406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scaling for ML pipelines  ·  ADF stationarity confirmed (p ≈ 0.0) for all return series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20040" y="11887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77240" y="2743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40233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Asset Growth &amp; Return Distributions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777240"/>
          <a:ext cx="5029200" cy="2057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Ann. Return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Kurtosis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 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24.76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5532120" y="669290"/>
            <a:ext cx="3246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5532120" y="669290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5669280" y="760730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669280" y="76073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44768" y="724154"/>
            <a:ext cx="25420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grew ~250× from 2014 base, dwarfing all traditional assets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532120" y="1382522"/>
            <a:ext cx="3246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532120" y="1382522"/>
            <a:ext cx="64008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5669280" y="1473962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669280" y="147396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144768" y="1437386"/>
            <a:ext cx="25420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&amp; S&amp;P 500 returned comparable annualized rates (~7%)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532120" y="2095754"/>
            <a:ext cx="3246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5532120" y="2095754"/>
            <a:ext cx="64008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5669280" y="2187194"/>
            <a:ext cx="402336" cy="4023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669280" y="218719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144768" y="2150618"/>
            <a:ext cx="25420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return series show negative skewness — downside tail risk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532120" y="2808986"/>
            <a:ext cx="3246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5532120" y="2815336"/>
            <a:ext cx="64008" cy="59436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5669280" y="2900426"/>
            <a:ext cx="402336" cy="402336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5669280" y="290042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138418" y="2863850"/>
            <a:ext cx="25420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kurtosis (fat tails) confirm non-normal distributions across assets</a:t>
            </a:r>
            <a:endParaRPr lang="en-US" sz="900" dirty="0"/>
          </a:p>
        </p:txBody>
      </p:sp>
      <p:graphicFrame>
        <p:nvGraphicFramePr>
          <p:cNvPr id="27" name="Chart 0"/>
          <p:cNvGraphicFramePr/>
          <p:nvPr>
            <p:extLst>
              <p:ext uri="{D42A27DB-BD31-4B8C-83A1-F6EECF244321}">
                <p14:modId xmlns:p14="http://schemas.microsoft.com/office/powerpoint/2010/main" val="2337444140"/>
              </p:ext>
            </p:extLst>
          </p:nvPr>
        </p:nvGraphicFramePr>
        <p:xfrm>
          <a:off x="320040" y="3357626"/>
          <a:ext cx="84582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20040" y="11887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77240" y="2743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&amp; Rolling Relationships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40233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Dynamic Market Dependency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4712" y="80467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" y="1152144"/>
            <a:ext cx="7498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47672" y="80467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1810512"/>
            <a:ext cx="7498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70632" y="80467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SP500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" y="2468880"/>
            <a:ext cx="7498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SP500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93592" y="80467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" y="3127248"/>
            <a:ext cx="7498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124712" y="1152144"/>
            <a:ext cx="82296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124712" y="1152144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47672" y="1152144"/>
            <a:ext cx="822960" cy="658368"/>
          </a:xfrm>
          <a:prstGeom prst="rect">
            <a:avLst/>
          </a:prstGeom>
          <a:solidFill>
            <a:srgbClr val="FDFE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947672" y="1152144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70632" y="1152144"/>
            <a:ext cx="822960" cy="658368"/>
          </a:xfrm>
          <a:prstGeom prst="rect">
            <a:avLst/>
          </a:prstGeom>
          <a:solidFill>
            <a:srgbClr val="FADBD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770632" y="1152144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93592" y="1152144"/>
            <a:ext cx="822960" cy="658368"/>
          </a:xfrm>
          <a:prstGeom prst="rect">
            <a:avLst/>
          </a:prstGeom>
          <a:solidFill>
            <a:srgbClr val="D6EA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593592" y="1152144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124712" y="1810512"/>
            <a:ext cx="822960" cy="658368"/>
          </a:xfrm>
          <a:prstGeom prst="rect">
            <a:avLst/>
          </a:prstGeom>
          <a:solidFill>
            <a:srgbClr val="FDFE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124712" y="1810512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947672" y="1810512"/>
            <a:ext cx="82296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947672" y="1810512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70632" y="1810512"/>
            <a:ext cx="822960" cy="658368"/>
          </a:xfrm>
          <a:prstGeom prst="rect">
            <a:avLst/>
          </a:prstGeom>
          <a:solidFill>
            <a:srgbClr val="FDFE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770632" y="1810512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593592" y="1810512"/>
            <a:ext cx="822960" cy="658368"/>
          </a:xfrm>
          <a:prstGeom prst="rect">
            <a:avLst/>
          </a:prstGeom>
          <a:solidFill>
            <a:srgbClr val="FDFE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593592" y="1810512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124712" y="2468880"/>
            <a:ext cx="822960" cy="658368"/>
          </a:xfrm>
          <a:prstGeom prst="rect">
            <a:avLst/>
          </a:prstGeom>
          <a:solidFill>
            <a:srgbClr val="FADBD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124712" y="246888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947672" y="2468880"/>
            <a:ext cx="822960" cy="658368"/>
          </a:xfrm>
          <a:prstGeom prst="rect">
            <a:avLst/>
          </a:prstGeom>
          <a:solidFill>
            <a:srgbClr val="FDFE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1947672" y="246888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70632" y="2468880"/>
            <a:ext cx="82296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770632" y="246888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593592" y="2468880"/>
            <a:ext cx="82296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593592" y="246888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-0.74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124712" y="3127248"/>
            <a:ext cx="822960" cy="658368"/>
          </a:xfrm>
          <a:prstGeom prst="rect">
            <a:avLst/>
          </a:prstGeom>
          <a:solidFill>
            <a:srgbClr val="D6EA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1124712" y="3127248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947672" y="3127248"/>
            <a:ext cx="822960" cy="658368"/>
          </a:xfrm>
          <a:prstGeom prst="rect">
            <a:avLst/>
          </a:prstGeom>
          <a:solidFill>
            <a:srgbClr val="FDFE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1947672" y="3127248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70632" y="3127248"/>
            <a:ext cx="82296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2770632" y="3127248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-0.74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593592" y="3127248"/>
            <a:ext cx="82296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593592" y="3127248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645152" y="80467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Correlation Insights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645152" y="118872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645152" y="1188720"/>
            <a:ext cx="64008" cy="74980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736592" y="123444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5779008" y="1280160"/>
            <a:ext cx="2944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↔ S&amp;P 500 correlation (2014–2025 average)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45152" y="205740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4645152" y="2057400"/>
            <a:ext cx="64008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736592" y="21031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5779008" y="2148840"/>
            <a:ext cx="2944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60-day BTC–SP500 correlation by end-2025 (rising trend)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645152" y="292608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645152" y="292608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4736592" y="29718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5779008" y="3017520"/>
            <a:ext cx="2944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↔ Gold correlation — weak, near-zero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645152" y="379476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4645152" y="3794760"/>
            <a:ext cx="64008" cy="7498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4736592" y="38404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−0.74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5779008" y="3886200"/>
            <a:ext cx="2944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SP500 ↔ VIX correlation — strong inverse (fear gauge)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347472" y="4709160"/>
            <a:ext cx="8458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BTC's correlation with equities has grown significantly since 2020 — undermining its diversification narrative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20040" y="11887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77240" y="2743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Volatility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40233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GARCH(1,1), VaR, CVaR &amp; Drawdown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47472" y="7772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GARCH(1,1) Bitcoin Model Results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143000"/>
          <a:ext cx="4297680" cy="230428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Return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0.016 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Variance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 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 Shock Term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0.0991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 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Volatility Persistence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 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 (α+β)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&lt;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Chart 0"/>
          <p:cNvGraphicFramePr/>
          <p:nvPr/>
        </p:nvGraphicFramePr>
        <p:xfrm>
          <a:off x="4800600" y="777240"/>
          <a:ext cx="4005072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5"/>
          <p:cNvSpPr/>
          <p:nvPr/>
        </p:nvSpPr>
        <p:spPr>
          <a:xfrm>
            <a:off x="347472" y="3639312"/>
            <a:ext cx="1993392" cy="1298448"/>
          </a:xfrm>
          <a:prstGeom prst="rect">
            <a:avLst/>
          </a:prstGeom>
          <a:solidFill>
            <a:srgbClr val="132040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438912" y="370332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0.9223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38912" y="4279392"/>
            <a:ext cx="1810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 persistence (α+β) — high volatility clustering in BTC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2496312" y="3639312"/>
            <a:ext cx="1993392" cy="1298448"/>
          </a:xfrm>
          <a:prstGeom prst="rect">
            <a:avLst/>
          </a:prstGeom>
          <a:solidFill>
            <a:srgbClr val="132040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2587752" y="370332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−88.6%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2587752" y="4279392"/>
            <a:ext cx="1810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 for BTC  vs  −36.1% for S&amp;P 500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645152" y="3639312"/>
            <a:ext cx="1993392" cy="1298448"/>
          </a:xfrm>
          <a:prstGeom prst="rect">
            <a:avLst/>
          </a:prstGeom>
          <a:solidFill>
            <a:srgbClr val="1320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4736592" y="370332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736592" y="4279392"/>
            <a:ext cx="1810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BTC: 0.035  |  Gold: 0.036  |  SP500: 0.032 — similar risk-adjusted returns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793992" y="3639312"/>
            <a:ext cx="1993392" cy="1298448"/>
          </a:xfrm>
          <a:prstGeom prst="rect">
            <a:avLst/>
          </a:prstGeom>
          <a:solidFill>
            <a:srgbClr val="132040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6885432" y="370332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885432" y="4279392"/>
            <a:ext cx="1810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 model stable; volatility mean-reverts over time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20040" y="11887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77240" y="2743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Relationships &amp; Factor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40233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CPI, FED Rate &amp; OLS Factor Model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47472" y="777240"/>
            <a:ext cx="8458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Factor Model: BTC Returns = f(SP500, VIX, FED, CPI)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143000"/>
          <a:ext cx="8458200" cy="2304288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 Coefficient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 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 ★★★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Highly Significant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BTC moves with equity markets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VIX (Fear)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0.092 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panic response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0.168 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already priced 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 (Inflation)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0.308 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 direct CPI hedge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= 0.045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96% of BTC volatility = crypto-specific factors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47472" y="361188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347472" y="3611880"/>
            <a:ext cx="64008" cy="1371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7"/>
          <p:cNvSpPr/>
          <p:nvPr/>
        </p:nvSpPr>
        <p:spPr>
          <a:xfrm>
            <a:off x="502920" y="3712464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02920" y="37124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87552" y="3703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Inflation Hedge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2920" y="4142232"/>
            <a:ext cx="250545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coefficient is statistically insignificant. Granger causality tests confirm CPI does NOT predict BTC returns at any lag.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73552" y="361188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3273552" y="3611880"/>
            <a:ext cx="64008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3429000" y="3712464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429000" y="37124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913632" y="3703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 Asset (Not Digital Gold)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429000" y="4142232"/>
            <a:ext cx="250545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SP500 shows the highest significance (β=0.68). BTC behaves like a high-beta equity — not a safe haven.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199632" y="361188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6199632" y="3611880"/>
            <a:ext cx="64008" cy="137160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6355080" y="3712464"/>
            <a:ext cx="384048" cy="384048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6355080" y="37124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839712" y="3703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Rate Paradox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355080" y="4142232"/>
            <a:ext cx="250545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hike impact is insignificant in daily OLS — markets pre-price Fed policy. Long-term liquidity channel matters more.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20040" y="11887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77240" y="2743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Regime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40233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Asset Behavior Under Different Macro Conditions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47472" y="777240"/>
          <a:ext cx="5029200" cy="32186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532120" y="618490"/>
            <a:ext cx="32644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" name="Shape 5"/>
          <p:cNvSpPr/>
          <p:nvPr/>
        </p:nvSpPr>
        <p:spPr>
          <a:xfrm>
            <a:off x="5532120" y="618490"/>
            <a:ext cx="45719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687568" y="64592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High Inflation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87568" y="920242"/>
            <a:ext cx="3017520" cy="216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+109.5%  |  S&amp;P +56.9%  |  Gold +10.6%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687568" y="1194562"/>
            <a:ext cx="3017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assets thrive; CPI above median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532120" y="1528318"/>
            <a:ext cx="32644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Shape 10"/>
          <p:cNvSpPr/>
          <p:nvPr/>
        </p:nvSpPr>
        <p:spPr>
          <a:xfrm>
            <a:off x="5532120" y="1528318"/>
            <a:ext cx="45719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687568" y="155575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Normal / Growth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687568" y="1830070"/>
            <a:ext cx="3017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+81.2%  |  S&amp;P +17.3%  |  Gold −3.9%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687568" y="2104390"/>
            <a:ext cx="3017520" cy="1887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leads; Gold flat; equities grow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532120" y="2412746"/>
            <a:ext cx="3264408" cy="77393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5532120" y="2412746"/>
            <a:ext cx="45719" cy="77393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687568" y="244017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😨 Risk-Off (Panic)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687568" y="271449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+24.4%  |  S&amp;P −7.7%  |  Gold +12.3%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687568" y="2988818"/>
            <a:ext cx="3017520" cy="1430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is the only safe haven protector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532120" y="3274135"/>
            <a:ext cx="3264408" cy="76751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5532120" y="3274135"/>
            <a:ext cx="45719" cy="76751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5687568" y="3277898"/>
            <a:ext cx="3017520" cy="263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Tight Policy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687568" y="3552218"/>
            <a:ext cx="3017520" cy="237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+44.4%  |  S&amp;P +30.5%  |  Gold +10.4%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687568" y="3825494"/>
            <a:ext cx="3017520" cy="152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halves as Fed hikes rates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347472" y="4096512"/>
            <a:ext cx="8458200" cy="868680"/>
          </a:xfrm>
          <a:prstGeom prst="rect">
            <a:avLst/>
          </a:prstGeom>
          <a:solidFill>
            <a:srgbClr val="13204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548640" y="4160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Beta (BTC vs S&amp;P 500)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2880360" y="4160520"/>
            <a:ext cx="5806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2021, Rolling Beta has consistently stayed above 1.0 — confirming BTC as a high-beta, risk-amplifying asset that magnifies both S&amp;P 500 gains and losses. During market stress, Beta spikes above 4.0 — acting as a volatility multiplier.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20040" y="11887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77240" y="2743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Optimization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40233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Efficient Frontier &amp; Monte Carlo (10,000 simulations)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777240"/>
            <a:ext cx="48006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84124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Frontier (10,000 Monte Carlo Portfolios)</a:t>
            </a:r>
            <a:endParaRPr lang="en-US" sz="9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57200" y="1170432"/>
          <a:ext cx="45720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285232" y="777240"/>
            <a:ext cx="3520440" cy="109651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285232" y="777240"/>
            <a:ext cx="45720" cy="109651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468112" y="8412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Sharpe (Best)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68112" y="115214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6.85%  |  Vol: 6.23%  |  Sharpe: 1.10  |  10yr Growth: 3.27×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468112" y="144475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3.95%  |  Gold 28.4%  |  SP500 38.4%  |  CPI 24.3%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7575550" y="797560"/>
            <a:ext cx="1042924" cy="420624"/>
          </a:xfrm>
          <a:prstGeom prst="rect">
            <a:avLst/>
          </a:prstGeom>
          <a:solidFill>
            <a:srgbClr val="E2E8F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7479792" y="707898"/>
            <a:ext cx="1234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3.27×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285232" y="1986280"/>
            <a:ext cx="3520440" cy="1091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5285232" y="1986280"/>
            <a:ext cx="45719" cy="1091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5468112" y="20502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Variance (Safest)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461762" y="237388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3.79%  |  Vol: 5.60%  |  Sharpe: 0.68  |  10yr Growth: 1.91×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468112" y="265379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0.2%  |  Gold 15.7%  |  SP500 16.6%  |  CPI 60.5%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7479792" y="1999996"/>
            <a:ext cx="1234440" cy="420624"/>
          </a:xfrm>
          <a:prstGeom prst="rect">
            <a:avLst/>
          </a:prstGeom>
          <a:solidFill>
            <a:srgbClr val="E2E8F0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7452360" y="1971548"/>
            <a:ext cx="1234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1.91×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285232" y="3176270"/>
            <a:ext cx="3520440" cy="10226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5285232" y="3176270"/>
            <a:ext cx="64008" cy="102260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5468112" y="324027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Parity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468112" y="355117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~4.5%  |  Vol: ~5.8%  |  Sharpe: 0.78  |  10yr Growth: 1.75×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468112" y="384378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84%  |  Gold 6.7%  |  SP500 5.8%  |  BTC 1.6%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7479792" y="3240278"/>
            <a:ext cx="123444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7479792" y="3240278"/>
            <a:ext cx="123444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1.75×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5285232" y="4337812"/>
            <a:ext cx="3520440" cy="658368"/>
          </a:xfrm>
          <a:prstGeom prst="rect">
            <a:avLst/>
          </a:prstGeom>
          <a:solidFill>
            <a:srgbClr val="13204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5468112" y="438353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 Comparison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468112" y="465785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−15.3%  |  Safest: −7.0%  |  Risk Parity: −6.5%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20040" y="11887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77240" y="2743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Allocation Impact on Portfolio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40233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— How Bitcoin Changes Risk-Return Profile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47472" y="777240"/>
          <a:ext cx="50292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532120" y="777240"/>
            <a:ext cx="326440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5532120" y="777240"/>
            <a:ext cx="6400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687568" y="822960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0" y="822960"/>
            <a:ext cx="2304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Zone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0" y="1078992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return uplift; volatility barely moves from baseline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532120" y="1856232"/>
            <a:ext cx="326440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532120" y="1856232"/>
            <a:ext cx="6400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687568" y="1901952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10–20%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00800" y="1901952"/>
            <a:ext cx="2304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0" y="2157984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improves materially; volatility still manageable for most risk profiles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532120" y="2935224"/>
            <a:ext cx="326440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5532120" y="2935224"/>
            <a:ext cx="64008" cy="9601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687568" y="2980944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00800" y="2980944"/>
            <a:ext cx="2304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Zone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00800" y="3236976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rises sharply (&gt;20%). Sharpe ratio begins to decline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532120" y="4014216"/>
            <a:ext cx="326440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5532120" y="4014216"/>
            <a:ext cx="64008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5687568" y="4059936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&gt;40%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400800" y="4059936"/>
            <a:ext cx="2304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Overweight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400800" y="4315968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dominates. Maximum drawdowns breach −50%+. Unsuitable for most investors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347472" y="4005072"/>
            <a:ext cx="8458200" cy="987552"/>
          </a:xfrm>
          <a:prstGeom prst="rect">
            <a:avLst/>
          </a:prstGeom>
          <a:solidFill>
            <a:srgbClr val="0A162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548640" y="40690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Optimal BTC Allocation: 10–20%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251960" y="4069080"/>
            <a:ext cx="4434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confirms that 10–20% BTC maximizes Sharpe ratio improvement for the given gold (20%) + SP500 base portfolio. Beyond 20%, additional BTC increases volatility disproportionately relative to return uplift.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20040" y="11887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77240" y="2743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Intelligence Dashboard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40233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— Real-Time Financial Analytics Platform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777240"/>
            <a:ext cx="4160520" cy="10960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47472" y="777240"/>
            <a:ext cx="64008" cy="109601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30352" y="868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Market Tab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6702" y="110540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price growth chart (BTC, S&amp;P 500, Gold, VIX) + return distribution histograms. Live data via yfinance API.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36592" y="777240"/>
            <a:ext cx="4160520" cy="10960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736592" y="777240"/>
            <a:ext cx="45720" cy="109601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919472" y="868680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Risk Tab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19472" y="1207008"/>
            <a:ext cx="3840480" cy="5514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 volatility bar chart + 30-day rolling volatility line chart across all assets. Dynamic computation.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2005110"/>
            <a:ext cx="4160520" cy="103889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47472" y="2005111"/>
            <a:ext cx="45719" cy="103889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30352" y="209655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Correlation Tab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" y="2294196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Plotly heatmap of return correlations. Color-coded with exact coefficients displayed.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36592" y="2005110"/>
            <a:ext cx="4160520" cy="103889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736592" y="2005110"/>
            <a:ext cx="45720" cy="103889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919472" y="209655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Portfolio 3D Tab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19472" y="2276614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scatter plot of 1,200 Monte Carlo portfolios. X = Risk, Y = Return, Z = Sharpe Ratio (Viridis scale).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7472" y="3158744"/>
            <a:ext cx="4160520" cy="10144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47472" y="3158744"/>
            <a:ext cx="45719" cy="10144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30352" y="32501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Strategy Tab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" y="344881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VIX-signal strategy backtesting. BTC held only when VIX &lt; 25. Cumulative equity curve vs benchmark.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36592" y="3158744"/>
            <a:ext cx="4160520" cy="10144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736592" y="3158744"/>
            <a:ext cx="45720" cy="10144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919472" y="32501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SIP Calculator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19472" y="342341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investment simulator for BTC, SP500, or Gold. Slider for ₹1,000–₹50,000/month. Final portfolio value.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72872" y="4406392"/>
            <a:ext cx="8458200" cy="658368"/>
          </a:xfrm>
          <a:prstGeom prst="rect">
            <a:avLst/>
          </a:prstGeom>
          <a:solidFill>
            <a:srgbClr val="13204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1" name="Text 29"/>
          <p:cNvSpPr/>
          <p:nvPr/>
        </p:nvSpPr>
        <p:spPr>
          <a:xfrm>
            <a:off x="574040" y="456565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689608" y="4470400"/>
            <a:ext cx="7040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 ·  Streamlit  ·  Plotly  ·  yfinance API  ·  scikit-learn (KMeans)  ·  Pandas / NumPy  ·  Live Market Data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20040" y="11887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77240" y="2743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Investment Framework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40233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— Macro-Triggered Strategy (2014–2026 Backtest)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108570063"/>
              </p:ext>
            </p:extLst>
          </p:nvPr>
        </p:nvGraphicFramePr>
        <p:xfrm>
          <a:off x="347472" y="777240"/>
          <a:ext cx="347472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005072" y="694690"/>
            <a:ext cx="4800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005072" y="694690"/>
            <a:ext cx="64008" cy="8412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187952" y="74955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187952" y="95072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 &gt; 1.5× Median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327648" y="749554"/>
            <a:ext cx="0" cy="71323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446520" y="74955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446520" y="950722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Risk-Off → Gold Only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247888" y="749554"/>
            <a:ext cx="4754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13.7%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005072" y="1635760"/>
            <a:ext cx="4800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4005072" y="1635760"/>
            <a:ext cx="64008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187952" y="16906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4187952" y="189179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&gt; Median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327648" y="1690624"/>
            <a:ext cx="0" cy="71323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6446520" y="16906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6446520" y="1891792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Hedge → BTC + Gold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247888" y="1690624"/>
            <a:ext cx="4754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40.1%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005072" y="2570480"/>
            <a:ext cx="4800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4005072" y="2570480"/>
            <a:ext cx="64008" cy="84124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4187952" y="26253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4187952" y="282651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&gt; Median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327648" y="2625344"/>
            <a:ext cx="0" cy="71323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6446520" y="26253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6446520" y="2826512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→ SP500 + Gold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8247888" y="2625344"/>
            <a:ext cx="4754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15.6%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005072" y="3517900"/>
            <a:ext cx="4800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4005072" y="3517900"/>
            <a:ext cx="6400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4187952" y="357276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4187952" y="377393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VIX / Low Rates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6327648" y="3572764"/>
            <a:ext cx="0" cy="71323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6446520" y="357276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6446520" y="3773932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Mode → SP500 + BTC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8247888" y="3572764"/>
            <a:ext cx="4754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30.6%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365760" y="4363720"/>
            <a:ext cx="8458200" cy="749808"/>
          </a:xfrm>
          <a:prstGeom prst="rect">
            <a:avLst/>
          </a:prstGeom>
          <a:solidFill>
            <a:srgbClr val="13204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548640" y="44094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Backtest Results (2014 → 2026)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3566160" y="4383278"/>
            <a:ext cx="1737360" cy="524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Strategy: ~100–120×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5394960" y="4406773"/>
            <a:ext cx="1737360" cy="4507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&amp; Hold BTC: ~250×*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7223760" y="4401185"/>
            <a:ext cx="1490472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&amp; Hold SP500: ~3.5×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548640" y="477951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*BTC with massive drawdowns; Dynamic Strategy delivers smoother equity curve with controlled max drawdown of −15.3%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20040" y="11887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77240" y="2743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Research Findings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40233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7-Module Analysis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77724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47472" y="777240"/>
            <a:ext cx="64008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12064" y="914400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12064" y="9144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60704" y="86868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is a Risk Asset, Not Digital Gold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60704" y="1252728"/>
            <a:ext cx="3337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SP500 is the only statistically significant macro driver (β=0.68, p&lt;0.001). Rolling Beta &gt; 1 since 2021 confirms BTC as a high-beta equity proxy.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36592" y="77724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736592" y="777240"/>
            <a:ext cx="64008" cy="12618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901184" y="914400"/>
            <a:ext cx="438912" cy="43891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901184" y="9144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49824" y="86868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Evidence of Inflation Hedging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49824" y="1252728"/>
            <a:ext cx="3337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correlation = 0.015. Granger causality tests fail at all lags (p &gt; 0.20). BTC responds to global liquidity, not consumer price indices.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219456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47472" y="2194560"/>
            <a:ext cx="64008" cy="126187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12064" y="2331720"/>
            <a:ext cx="438912" cy="438912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12064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60704" y="228600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 Confirms Volatility Clustering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60704" y="2670048"/>
            <a:ext cx="3337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α+β = 0.9223 — volatility is mean-reverting but highly persistent. Once BTC becomes volatile, risk remains elevated for multiple sessions.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36592" y="219456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736592" y="2194560"/>
            <a:ext cx="64008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901184" y="2331720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901184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9824" y="228600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is the Superior Safe Haven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49824" y="2670048"/>
            <a:ext cx="3337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Risk-Off: Gold +12.3% vs BTC +24.4% but with 4× lower volatility. Gold delivered +20% during COVID crash while BTC fell.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47472" y="361188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7472" y="3611880"/>
            <a:ext cx="64008" cy="12618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12064" y="3749040"/>
            <a:ext cx="438912" cy="4389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12064" y="37490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60704" y="370332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Regime Classification: 89.5% Accuracy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60704" y="4087368"/>
            <a:ext cx="3337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identifies High/Low volatility regimes with 89.5% accuracy using 6 macro-financial features. Actionable for tactical allocation.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36592" y="361188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736592" y="3611880"/>
            <a:ext cx="64008" cy="1261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901184" y="3749040"/>
            <a:ext cx="438912" cy="43891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901184" y="37490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49824" y="370332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Strategy Beats Static Portfolios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49824" y="4087368"/>
            <a:ext cx="3337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Macro-triggered rotation delivers max Sharpe ratio of 1.10 with max drawdown of −15.3% vs BTC's −88.6%. Optimal BTC weight: 10–20%.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20040" y="11887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77240" y="2743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Recommendations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40233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Investor-Type Based Allocation Framework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770890"/>
            <a:ext cx="2743200" cy="356793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47472" y="777240"/>
            <a:ext cx="2743200" cy="7594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Conservative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Preservation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55648"/>
            <a:ext cx="1766621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1755648"/>
            <a:ext cx="176662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SP500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223821" y="1755648"/>
            <a:ext cx="757123" cy="38404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223821" y="1755648"/>
            <a:ext cx="75712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57200" y="2304288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Return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254203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7–9%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807208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304495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12–15%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310128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354787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~0.60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534918"/>
            <a:ext cx="2523744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risk-averse investors. Gold provides crisis protection; SP500 delivers long-term equity growth.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55264" y="777240"/>
            <a:ext cx="2743200" cy="356158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55264" y="777240"/>
            <a:ext cx="2743200" cy="7594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364992" y="804672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Moderate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64992" y="118872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Growth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64992" y="1755648"/>
            <a:ext cx="1514246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364992" y="1755648"/>
            <a:ext cx="151424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SP500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879238" y="1755648"/>
            <a:ext cx="504749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879238" y="1755648"/>
            <a:ext cx="50474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383987" y="1755648"/>
            <a:ext cx="504749" cy="38404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383987" y="1755648"/>
            <a:ext cx="50474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364992" y="2266188"/>
            <a:ext cx="2523744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Return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64992" y="254203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12–15%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364992" y="2781808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64992" y="301320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18–22%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364992" y="3335528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364992" y="352882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~0.72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364992" y="3566668"/>
            <a:ext cx="2523744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for most investors. Small BTC allocation maximizes Sharpe; Gold hedges panic; SP500 provides stability.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163056" y="777240"/>
            <a:ext cx="2743200" cy="3561588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163056" y="777240"/>
            <a:ext cx="2743200" cy="7594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272784" y="804672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Aggressive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272784" y="118872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Acceleration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272784" y="1755648"/>
            <a:ext cx="100949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272784" y="1755648"/>
            <a:ext cx="100949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SP500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282282" y="1755648"/>
            <a:ext cx="1009498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282282" y="1755648"/>
            <a:ext cx="100949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8291779" y="1755648"/>
            <a:ext cx="504749" cy="38404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8291779" y="1755648"/>
            <a:ext cx="50474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272784" y="2304288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Return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72784" y="254203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20–30%+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272784" y="2807208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272784" y="304495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35–50%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272784" y="3310128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272784" y="354787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~0.65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254496" y="3489198"/>
            <a:ext cx="2523744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high risk-tolerance. Significant BTC exposure. Expect major drawdowns. Dynamic rebalancing essential.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47472" y="4510532"/>
            <a:ext cx="8458200" cy="605536"/>
          </a:xfrm>
          <a:prstGeom prst="rect">
            <a:avLst/>
          </a:prstGeom>
          <a:solidFill>
            <a:srgbClr val="0A162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548640" y="450672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Apply Dynamic Regime Rules: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880360" y="4506722"/>
            <a:ext cx="5897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VIX → shift to Gold  |  High CPI → increase BTC+Gold  |  Rate hikes → defensive SP500+Gold  |  Low rates → Growth BTC+SP500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8072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903720" y="457200"/>
            <a:ext cx="64008" cy="4114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6217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Framework for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Crypto-Macro Portfolio Management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13716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49808" y="1810512"/>
            <a:ext cx="5989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is empirically a high-beta risk asset — not a digital gold or inflation hedge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49808" y="2286000"/>
            <a:ext cx="5989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remains the definitive safe haven during market panics and Risk-Off regimes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77977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49808" y="2761488"/>
            <a:ext cx="5989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Macro-regime tactical allocation outperforms static Buy &amp; Hold with lower drawdowns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25526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49808" y="3236976"/>
            <a:ext cx="5989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(89.5% regime accuracy) enables automated, data-driven rebalancing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73075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49808" y="3712464"/>
            <a:ext cx="5989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BTC allocation: 10–20% — maximizes Sharpe without extreme volatility drag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420624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49808" y="4187952"/>
            <a:ext cx="5989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strategy (VIX + CPI + FED triggers) delivers superior risk-adjusted returns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995160" y="594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95160" y="1024128"/>
            <a:ext cx="54864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150608" y="10241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&amp; altcoin correlation analysis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995160" y="1645920"/>
            <a:ext cx="54864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150608" y="1645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return prediction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995160" y="2267712"/>
            <a:ext cx="54864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150608" y="22677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data integration (hashrate, ETF flows)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995160" y="2889504"/>
            <a:ext cx="54864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150608" y="288950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portfolio rebalancing API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995160" y="3511296"/>
            <a:ext cx="54864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150608" y="351129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Sector-level equity breakdown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995160" y="4133088"/>
            <a:ext cx="54864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150608" y="41330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strategy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0" y="4736592"/>
            <a:ext cx="9144000" cy="384048"/>
          </a:xfrm>
          <a:prstGeom prst="rect">
            <a:avLst/>
          </a:prstGeom>
          <a:solidFill>
            <a:srgbClr val="071020"/>
          </a:solidFill>
          <a:ln w="12700">
            <a:solidFill>
              <a:srgbClr val="071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a world of constant change, the most successful portfolio is the one that adapts."  — Project Conclusion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</TotalTime>
  <Words>2995</Words>
  <Application>Microsoft Office PowerPoint</Application>
  <PresentationFormat>On-screen Show (16:9)</PresentationFormat>
  <Paragraphs>474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Comparative Financial Analysis — BTC vs Traditional Assets</dc:title>
  <dc:subject>PptxGenJS Presentation</dc:subject>
  <dc:creator>PptxGenJS</dc:creator>
  <cp:lastModifiedBy>Taranjeet Singh</cp:lastModifiedBy>
  <cp:revision>7</cp:revision>
  <dcterms:created xsi:type="dcterms:W3CDTF">2026-05-13T13:48:08Z</dcterms:created>
  <dcterms:modified xsi:type="dcterms:W3CDTF">2026-05-16T07:08:40Z</dcterms:modified>
</cp:coreProperties>
</file>