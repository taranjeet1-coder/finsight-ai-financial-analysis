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29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Ann. Volatility (%)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97-41F3-AAE8-FBEB3567CD34}"/>
              </c:ext>
            </c:extLst>
          </c:dPt>
          <c:dPt>
            <c:idx val="1"/>
            <c:invertIfNegative val="0"/>
            <c:bubble3D val="0"/>
            <c:spPr>
              <a:solidFill>
                <a:srgbClr val="27C9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97-41F3-AAE8-FBEB3567CD34}"/>
              </c:ext>
            </c:extLst>
          </c:dPt>
          <c:dPt>
            <c:idx val="2"/>
            <c:invertIfNegative val="0"/>
            <c:bubble3D val="0"/>
            <c:spPr>
              <a:solidFill>
                <a:srgbClr val="4BA3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97-41F3-AAE8-FBEB3567CD3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Bitcoin</c:v>
                </c:pt>
                <c:pt idx="1">
                  <c:v>Gold</c:v>
                </c:pt>
                <c:pt idx="2">
                  <c:v>S&amp;P 500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14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D97-41F3-AAE8-FBEB3567CD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F5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 w="12700" cap="flat">
      <a:solidFill>
        <a:srgbClr val="0A1628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Kurtosis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6F-47E9-B7B8-4276CACE0845}"/>
              </c:ext>
            </c:extLst>
          </c:dPt>
          <c:dPt>
            <c:idx val="1"/>
            <c:invertIfNegative val="0"/>
            <c:bubble3D val="0"/>
            <c:spPr>
              <a:solidFill>
                <a:srgbClr val="27C9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6F-47E9-B7B8-4276CACE0845}"/>
              </c:ext>
            </c:extLst>
          </c:dPt>
          <c:dPt>
            <c:idx val="2"/>
            <c:invertIfNegative val="0"/>
            <c:bubble3D val="0"/>
            <c:spPr>
              <a:solidFill>
                <a:srgbClr val="4BA3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6F-47E9-B7B8-4276CACE084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Bitcoin</c:v>
                </c:pt>
                <c:pt idx="1">
                  <c:v>Gold</c:v>
                </c:pt>
                <c:pt idx="2">
                  <c:v>S&amp;P 500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13.08</c:v>
                </c:pt>
                <c:pt idx="1">
                  <c:v>5.21</c:v>
                </c:pt>
                <c:pt idx="2">
                  <c:v>12.34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6F-47E9-B7B8-4276CACE08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F5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 w="12700" cap="flat">
      <a:solidFill>
        <a:srgbClr val="0A1628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Beta vs S&amp;P 500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0.18</c:v>
                </c:pt>
                <c:pt idx="1">
                  <c:v>0.42</c:v>
                </c:pt>
                <c:pt idx="2">
                  <c:v>0.38</c:v>
                </c:pt>
                <c:pt idx="3">
                  <c:v>0.28999999999999998</c:v>
                </c:pt>
                <c:pt idx="4">
                  <c:v>0.55000000000000004</c:v>
                </c:pt>
                <c:pt idx="5">
                  <c:v>0.62</c:v>
                </c:pt>
                <c:pt idx="6">
                  <c:v>0.48</c:v>
                </c:pt>
                <c:pt idx="7">
                  <c:v>0.34</c:v>
                </c:pt>
                <c:pt idx="8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9A-4DFC-99F8-FB610E129E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F5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 w="12700" cap="flat">
      <a:solidFill>
        <a:srgbClr val="0A1628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GARCH Conditional Volatility — BTC (%)</c:v>
                </c:pt>
              </c:strCache>
            </c:strRef>
          </c:tx>
          <c:spPr>
            <a:ln w="31750" cap="flat">
              <a:solidFill>
                <a:srgbClr val="C9A22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35</c:v>
                </c:pt>
                <c:pt idx="1">
                  <c:v>28</c:v>
                </c:pt>
                <c:pt idx="2">
                  <c:v>72</c:v>
                </c:pt>
                <c:pt idx="3">
                  <c:v>92</c:v>
                </c:pt>
                <c:pt idx="4">
                  <c:v>45</c:v>
                </c:pt>
                <c:pt idx="5">
                  <c:v>110</c:v>
                </c:pt>
                <c:pt idx="6">
                  <c:v>95</c:v>
                </c:pt>
                <c:pt idx="7">
                  <c:v>75</c:v>
                </c:pt>
                <c:pt idx="8">
                  <c:v>55</c:v>
                </c:pt>
                <c:pt idx="9">
                  <c:v>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3B-480A-A684-BC28A8EB84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S&amp;P 500 Realised Vol (%)</c:v>
                </c:pt>
              </c:strCache>
            </c:strRef>
          </c:tx>
          <c:spPr>
            <a:ln w="31750" cap="flat">
              <a:solidFill>
                <a:srgbClr val="4BA3F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BA3F5"/>
              </a:solidFill>
              <a:ln w="9525" cap="flat">
                <a:solidFill>
                  <a:srgbClr val="4BA3F5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16</c:v>
                </c:pt>
                <c:pt idx="1">
                  <c:v>12</c:v>
                </c:pt>
                <c:pt idx="2">
                  <c:v>10</c:v>
                </c:pt>
                <c:pt idx="3">
                  <c:v>22</c:v>
                </c:pt>
                <c:pt idx="4">
                  <c:v>12</c:v>
                </c:pt>
                <c:pt idx="5">
                  <c:v>37</c:v>
                </c:pt>
                <c:pt idx="6">
                  <c:v>18</c:v>
                </c:pt>
                <c:pt idx="7">
                  <c:v>25</c:v>
                </c:pt>
                <c:pt idx="8">
                  <c:v>16</c:v>
                </c:pt>
                <c:pt idx="9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3B-480A-A684-BC28A8EB84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F5E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C5D0E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 w="12700" cap="flat">
      <a:solidFill>
        <a:srgbClr val="0A1628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Drawdown (%)</c:v>
                </c:pt>
              </c:strCache>
            </c:strRef>
          </c:tx>
          <c:spPr>
            <a:solidFill>
              <a:srgbClr val="E85D5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D8A-4C29-81DF-A677273A654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D8A-4C29-81DF-A677273A654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D8A-4C29-81DF-A677273A654F}"/>
              </c:ext>
            </c:extLst>
          </c:dPt>
          <c:dPt>
            <c:idx val="3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D8A-4C29-81DF-A677273A654F}"/>
              </c:ext>
            </c:extLst>
          </c:dPt>
          <c:dPt>
            <c:idx val="4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D8A-4C29-81DF-A677273A654F}"/>
              </c:ext>
            </c:extLst>
          </c:dPt>
          <c:dPt>
            <c:idx val="5"/>
            <c:invertIfNegative val="0"/>
            <c:bubble3D val="0"/>
            <c:spPr>
              <a:solidFill>
                <a:srgbClr val="4BA3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D8A-4C29-81DF-A677273A654F}"/>
              </c:ext>
            </c:extLst>
          </c:dPt>
          <c:dPt>
            <c:idx val="6"/>
            <c:invertIfNegative val="0"/>
            <c:bubble3D val="0"/>
            <c:spPr>
              <a:solidFill>
                <a:srgbClr val="4BA3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D8A-4C29-81DF-A677273A654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BTC 2018 Crash</c:v>
                </c:pt>
                <c:pt idx="1">
                  <c:v>BTC 2020 COVID</c:v>
                </c:pt>
                <c:pt idx="2">
                  <c:v>BTC 2022 Bear</c:v>
                </c:pt>
                <c:pt idx="3">
                  <c:v>Gold 2011–15</c:v>
                </c:pt>
                <c:pt idx="4">
                  <c:v>Gold 2022</c:v>
                </c:pt>
                <c:pt idx="5">
                  <c:v>S&amp;P 2020 COVID</c:v>
                </c:pt>
                <c:pt idx="6">
                  <c:v>S&amp;P 2022 Bear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83</c:v>
                </c:pt>
                <c:pt idx="1">
                  <c:v>68</c:v>
                </c:pt>
                <c:pt idx="2">
                  <c:v>77</c:v>
                </c:pt>
                <c:pt idx="3">
                  <c:v>45</c:v>
                </c:pt>
                <c:pt idx="4">
                  <c:v>20</c:v>
                </c:pt>
                <c:pt idx="5">
                  <c:v>34</c:v>
                </c:pt>
                <c:pt idx="6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D8A-4C29-81DF-A677273A65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F5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 w="12700" cap="flat">
      <a:solidFill>
        <a:srgbClr val="0A1628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 Score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89A-426E-BA1B-4475CED6C92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89A-426E-BA1B-4475CED6C92C}"/>
              </c:ext>
            </c:extLst>
          </c:dPt>
          <c:dPt>
            <c:idx val="2"/>
            <c:invertIfNegative val="0"/>
            <c:bubble3D val="0"/>
            <c:spPr>
              <a:solidFill>
                <a:srgbClr val="E8C5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89A-426E-BA1B-4475CED6C92C}"/>
              </c:ext>
            </c:extLst>
          </c:dPt>
          <c:dPt>
            <c:idx val="3"/>
            <c:invertIfNegative val="0"/>
            <c:bubble3D val="0"/>
            <c:spPr>
              <a:solidFill>
                <a:srgbClr val="C5D0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89A-426E-BA1B-4475CED6C92C}"/>
              </c:ext>
            </c:extLst>
          </c:dPt>
          <c:dPt>
            <c:idx val="4"/>
            <c:invertIfNegative val="0"/>
            <c:bubble3D val="0"/>
            <c:spPr>
              <a:solidFill>
                <a:srgbClr val="8FA3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89A-426E-BA1B-4475CED6C92C}"/>
              </c:ext>
            </c:extLst>
          </c:dPt>
          <c:dPt>
            <c:idx val="5"/>
            <c:invertIfNegative val="0"/>
            <c:bubble3D val="0"/>
            <c:spPr>
              <a:solidFill>
                <a:srgbClr val="8FA3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89A-426E-BA1B-4475CED6C92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VIX Level</c:v>
                </c:pt>
                <c:pt idx="1">
                  <c:v>Rolling Vol (30d)</c:v>
                </c:pt>
                <c:pt idx="2">
                  <c:v>BTC-SP500 Corr</c:v>
                </c:pt>
                <c:pt idx="3">
                  <c:v>BTC Return</c:v>
                </c:pt>
                <c:pt idx="4">
                  <c:v>Gold Return</c:v>
                </c:pt>
                <c:pt idx="5">
                  <c:v>SP500 Return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0.28000000000000003</c:v>
                </c:pt>
                <c:pt idx="1">
                  <c:v>0.24</c:v>
                </c:pt>
                <c:pt idx="2">
                  <c:v>0.18</c:v>
                </c:pt>
                <c:pt idx="3">
                  <c:v>0.14000000000000001</c:v>
                </c:pt>
                <c:pt idx="4">
                  <c:v>0.09</c:v>
                </c:pt>
                <c:pt idx="5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89A-426E-BA1B-4475CED6C9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F5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 w="12700" cap="flat">
      <a:solidFill>
        <a:srgbClr val="0A1628"/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 (×100 for scale)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Linear Reg</c:v>
                </c:pt>
                <c:pt idx="1">
                  <c:v>Ridge</c:v>
                </c:pt>
                <c:pt idx="2">
                  <c:v>Random Forest</c:v>
                </c:pt>
                <c:pt idx="3">
                  <c:v>XGBoost</c:v>
                </c:pt>
                <c:pt idx="4">
                  <c:v>LSTM</c:v>
                </c:pt>
                <c:pt idx="5">
                  <c:v>GRU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22</c:v>
                </c:pt>
                <c:pt idx="3">
                  <c:v>21</c:v>
                </c:pt>
                <c:pt idx="4">
                  <c:v>-18</c:v>
                </c:pt>
                <c:pt idx="5">
                  <c:v>-12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44-4CE3-B5BC-5C6764E213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2C4A7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Linear Reg</c:v>
                </c:pt>
                <c:pt idx="1">
                  <c:v>Ridge</c:v>
                </c:pt>
                <c:pt idx="2">
                  <c:v>Random Forest</c:v>
                </c:pt>
                <c:pt idx="3">
                  <c:v>XGBoost</c:v>
                </c:pt>
                <c:pt idx="4">
                  <c:v>LSTM</c:v>
                </c:pt>
                <c:pt idx="5">
                  <c:v>GRU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</c:v>
                </c:pt>
                <c:pt idx="1">
                  <c:v>52</c:v>
                </c:pt>
                <c:pt idx="2">
                  <c:v>64</c:v>
                </c:pt>
                <c:pt idx="3">
                  <c:v>63</c:v>
                </c:pt>
                <c:pt idx="4">
                  <c:v>41</c:v>
                </c:pt>
                <c:pt idx="5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44-4CE3-B5BC-5C6764E213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0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F5E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C5D0E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 w="12700" cap="flat">
      <a:solidFill>
        <a:srgbClr val="0A1628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Signal Count (2014–2025)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465-4BC3-9B5D-761718B929E2}"/>
              </c:ext>
            </c:extLst>
          </c:dPt>
          <c:dPt>
            <c:idx val="1"/>
            <c:bubble3D val="0"/>
            <c:spPr>
              <a:solidFill>
                <a:srgbClr val="E85D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465-4BC3-9B5D-761718B929E2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65-4BC3-9B5D-761718B929E2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65-4BC3-9B5D-761718B929E2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HOLD (2326 days)</c:v>
                </c:pt>
                <c:pt idx="1">
                  <c:v>SELL (486 days)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2326</c:v>
                </c:pt>
                <c:pt idx="1">
                  <c:v>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465-4BC3-9B5D-761718B929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0A1628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C5D0E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 w="12700" cap="flat">
      <a:solidFill>
        <a:srgbClr val="0A1628"/>
      </a:solidFill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Optimized 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2F5-4948-B294-BE2CD1696A96}"/>
              </c:ext>
            </c:extLst>
          </c:dPt>
          <c:dPt>
            <c:idx val="1"/>
            <c:bubble3D val="0"/>
            <c:spPr>
              <a:solidFill>
                <a:srgbClr val="4BA3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F5-4948-B294-BE2CD1696A96}"/>
              </c:ext>
            </c:extLst>
          </c:dPt>
          <c:dPt>
            <c:idx val="2"/>
            <c:bubble3D val="0"/>
            <c:spPr>
              <a:solidFill>
                <a:srgbClr val="E85D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F5-4948-B294-BE2CD1696A96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F5-4948-B294-BE2CD1696A96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F5-4948-B294-BE2CD1696A96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F5-4948-B294-BE2CD1696A9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Gold (56.3%)</c:v>
                </c:pt>
                <c:pt idx="1">
                  <c:v>S&amp;P 500 (38.7%)</c:v>
                </c:pt>
                <c:pt idx="2">
                  <c:v>Bitcoin (5.0%)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56.3</c:v>
                </c:pt>
                <c:pt idx="1">
                  <c:v>38.700000000000003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F5-4948-B294-BE2CD1696A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0A1628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C5D0E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 w="12700" cap="flat">
      <a:solidFill>
        <a:srgbClr val="0A1628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17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our complete 9-module financial analysis of Bitcoin, Gold, and the S&amp;P 500 — from data engineering through portfolio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kurtosis of 13 for Bitcoin is the critical number — normal distribution has kurtosis of 3. This means extreme events are 4x more frequent than expected. This drives all our risk decisions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at 72% annualised volatility is in a completely different risk category from traditional assets. Kurtosis of 13 is 4x the normal distribution — meaning Black Swan events happen far more frequently.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 is the only true uncorrelated asset here. Bitcoin's 0.32 correlation with equities means it moves with risk-on sentiment, not independently. The beta chart shows this has been rising since 2020, meaning BTC is increasingly behaving like a high-beta tech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Persistence of 0.921 is critical — it means when volatility spikes (COVID 2020 peak at 110%), it takes months to normalise. This is called volatility clustering. The line chart shows BTC volatility is consistently 3-5x higher than the S&amp;P 500 across all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83% drawdown means someone who invested at Bitcoin's 2017 peak lost 83 cents of every dollar. This single fact justifies our decision to cap Bitcoin at just 5% in the optimized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89.49% accuracy on a 3-class financial classification is a strong result. The feature importance chart is the key — VIX alone explains 28% of the variation. This tells us that market sentiment, not returns, is what defines a market regime.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R² for LSTM means it performed worse than simply predicting zero return every day. This is a documented finding — financial daily returns are near-random. Our honest reporting of this strengthens the academic credibility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impressive result here is zero BUY signals across 11 years of data. The fuzzy system was inherently conservative — it preferred to hold or sell rather than risk entering a bad trade. This is ideal institutional risk management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optimized portfolio achieves a Sharpe of 0.67 compared to 0.38 for Gold-only and 0.74 for S&amp;P 500-only. More importantly, it survived the COVID crash with a +8.2% return while pure equity portfolios lost 6%. This is the proof of diversification's mathematical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8 findings represent the complete narrative of 9 modules of analysis. The most counter-intuitive finding — deep learning underperforming classical ML — is actually the most academically rigorous and honest result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impactful extension would be NLP sentiment integration — academic literature shows news sentiment can predict BTC movements 24-48 hours ahead. The RL-based rebalancer would make this a fully autonomous trading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committee questions: 1) Why LSTM failed? (random walk / overfitting) 2) Why only 5% BTC? (GA Sharpe optimization) 3) Why GARCH over simple std? (volatility clustering) 4) Is the Streamlit app live? (yes — real-time yfinance data)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12192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149840" y="-365760"/>
            <a:ext cx="2560320" cy="2560320"/>
          </a:xfrm>
          <a:prstGeom prst="ellipse">
            <a:avLst/>
          </a:prstGeom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5943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 ·  2026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Financial Analysis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· Gold · S&amp;P 500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4572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Modeling  |  Volatility Analysis  |  Portfolio Optimization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34930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349300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Taranjeet Singh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8679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386791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Nikita / Dr. Jimmy Singla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24281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424281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6177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461772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Data Engineering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99262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49926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6304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DATA ENGINEERING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Descriptive Statistics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1325880"/>
            <a:ext cx="2478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0352" y="1536192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~2,800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30352" y="2011680"/>
            <a:ext cx="2551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 &amp; alignment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37560" y="123444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47288" y="1325880"/>
            <a:ext cx="2478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10712" y="1536192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2014–2025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410712" y="2011680"/>
            <a:ext cx="2551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years of daily data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27648" y="1325880"/>
            <a:ext cx="2478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91072" y="1536192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291072" y="2011680"/>
            <a:ext cx="2551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· Gold · S&amp;P 500 · VIX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98280" y="123444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208008" y="1325880"/>
            <a:ext cx="2478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71432" y="1536192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71432" y="2011680"/>
            <a:ext cx="2551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/ Backward-fill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25603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of Log Daily Returns</a:t>
            </a:r>
            <a:endParaRPr lang="en-US" sz="1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11274552" cy="299923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 (BTC)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(GLD)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Daily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0.0022  (+0.22%)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  (+0.03%)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0.0004  (+0.04%)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−0.44  (left skew)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−0.73  (left skew)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13.08  ⚠ Fat 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12.34  ⚠ Fat 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Annualised Volatility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70%  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  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~34%  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65379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Stationarity confirmed via ADF Test on all return series  |  Log returns used throughout analysis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6304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EDA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Risk Profile: Volatility &amp; Fat Tails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207008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6309360" y="1207008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5230368"/>
            <a:ext cx="3767328" cy="475488"/>
          </a:xfrm>
          <a:prstGeom prst="roundRect">
            <a:avLst>
              <a:gd name="adj" fmla="val 19231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457200" y="5230368"/>
            <a:ext cx="54864" cy="475488"/>
          </a:xfrm>
          <a:prstGeom prst="rect">
            <a:avLst/>
          </a:prstGeom>
          <a:solidFill>
            <a:srgbClr val="E85D5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40080" y="52303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is 5× more volatile than Gold (72% vs 14%)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70832" y="5230368"/>
            <a:ext cx="3767328" cy="475488"/>
          </a:xfrm>
          <a:prstGeom prst="roundRect">
            <a:avLst>
              <a:gd name="adj" fmla="val 19231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4370832" y="5230368"/>
            <a:ext cx="54864" cy="47548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553712" y="52303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13.08 → Extreme fat-tail &amp; crash risk in BTC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84464" y="5230368"/>
            <a:ext cx="3767328" cy="475488"/>
          </a:xfrm>
          <a:prstGeom prst="roundRect">
            <a:avLst>
              <a:gd name="adj" fmla="val 19231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284464" y="5230368"/>
            <a:ext cx="54864" cy="475488"/>
          </a:xfrm>
          <a:prstGeom prst="rect">
            <a:avLst/>
          </a:prstGeom>
          <a:solidFill>
            <a:srgbClr val="8FA3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8467344" y="52303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assets non-normal → Classical statistics insufficient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6304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02–04 · CORRELATION &amp; MACRO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&amp; Macro Relationships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of Log Returns (2014–2025)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27048"/>
          <a:ext cx="6858000" cy="265176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5D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C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5D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8FA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C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5D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8FA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5D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330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Beta vs S&amp;P 500 (Annual Averages)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4434840"/>
          <a:ext cx="68580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8"/>
          <p:cNvSpPr/>
          <p:nvPr/>
        </p:nvSpPr>
        <p:spPr>
          <a:xfrm>
            <a:off x="7589520" y="1207008"/>
            <a:ext cx="4389120" cy="5349240"/>
          </a:xfrm>
          <a:prstGeom prst="roundRect">
            <a:avLst>
              <a:gd name="adj" fmla="val 2083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7772400" y="13258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26680" y="1755648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1E3A6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772400" y="18288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8823960" y="17830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↔ Gold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823960" y="2075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— best diversifier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726680" y="2852928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1E3A6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772400" y="2926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8823960" y="28803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↔ S&amp;P 500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823960" y="31729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crypto isn't 'digital gold'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726680" y="3950208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1E3A6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772400" y="4023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8823960" y="39776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↔ S&amp;P 500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8823960" y="42702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correlation — true hedge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7726680" y="5047488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1E3A6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7772400" y="5120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−0.77</a:t>
            </a:r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8823960" y="5074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↔ S&amp;P 500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8823960" y="53675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inverse — fear drives markets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589520" y="6263640"/>
            <a:ext cx="4389120" cy="457200"/>
          </a:xfrm>
          <a:prstGeom prst="roundRect">
            <a:avLst>
              <a:gd name="adj" fmla="val 20000"/>
            </a:avLst>
          </a:prstGeom>
          <a:solidFill>
            <a:srgbClr val="1E3A6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7726680" y="6263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Regime: BTC avg return HIGH-inflation +0.49%  vs  LOW +0.11%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6304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VOLATILITY &amp; RISK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GARCH(1,1) Volatility Model Results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GARCH(1,1) Parameters — Bitcoin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5029200" cy="23591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  (Omega)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 variance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 (Alpha — ARCH)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of recent shocks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 (Beta — GARCH)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of past volatility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C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+ β  (Persistence)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C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C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Shocks persist for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2,864.3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fit quality (higher = better)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82696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&amp; Conditional VaR (95% Confidence)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453827"/>
              </p:ext>
            </p:extLst>
          </p:nvPr>
        </p:nvGraphicFramePr>
        <p:xfrm>
          <a:off x="457200" y="4114002"/>
          <a:ext cx="5029200" cy="168249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95%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CVaR 95%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BA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BA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BA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5814786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1E3A6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94360" y="5814786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Interpretation: Bitcoin has a 5% daily chance of losing MORE than 5.8%.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Gold's 1.1% VaR confirms it is 5x safer on a daily basis.</a:t>
            </a:r>
            <a:endParaRPr lang="en-US" sz="10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5760720" y="1207008"/>
          <a:ext cx="6400800" cy="5394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6304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RISK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 Analysis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207008"/>
          <a:ext cx="71323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207008"/>
            <a:ext cx="4297680" cy="1298448"/>
          </a:xfrm>
          <a:prstGeom prst="roundRect">
            <a:avLst>
              <a:gd name="adj" fmla="val 7042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772400" y="1207008"/>
            <a:ext cx="64008" cy="1298448"/>
          </a:xfrm>
          <a:prstGeom prst="rect">
            <a:avLst/>
          </a:prstGeom>
          <a:solidFill>
            <a:srgbClr val="E85D5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936992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2018 Crash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936992" y="15819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−83%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936992" y="20299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ATH to trough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772400" y="2651760"/>
            <a:ext cx="4297680" cy="1298448"/>
          </a:xfrm>
          <a:prstGeom prst="roundRect">
            <a:avLst>
              <a:gd name="adj" fmla="val 7042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7772400" y="2651760"/>
            <a:ext cx="64008" cy="1298448"/>
          </a:xfrm>
          <a:prstGeom prst="rect">
            <a:avLst/>
          </a:prstGeom>
          <a:solidFill>
            <a:srgbClr val="E85D5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936992" y="27249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COVID (Mar '20)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936992" y="30266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−68%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936992" y="34747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fell more than equities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772400" y="4096512"/>
            <a:ext cx="4297680" cy="1298448"/>
          </a:xfrm>
          <a:prstGeom prst="roundRect">
            <a:avLst>
              <a:gd name="adj" fmla="val 7042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7772400" y="4096512"/>
            <a:ext cx="64008" cy="12984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936992" y="41696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Max Drawdown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936992" y="447141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936992" y="49194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lower tail risk vs crypto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772400" y="5541264"/>
            <a:ext cx="4297680" cy="1298448"/>
          </a:xfrm>
          <a:prstGeom prst="roundRect">
            <a:avLst>
              <a:gd name="adj" fmla="val 7042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7772400" y="5541264"/>
            <a:ext cx="64008" cy="1298448"/>
          </a:xfrm>
          <a:prstGeom prst="rect">
            <a:avLst/>
          </a:prstGeom>
          <a:solidFill>
            <a:srgbClr val="4BA3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936992" y="561441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COVID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936992" y="591616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−34%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7936992" y="63642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in 5 months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6304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MACHINE LEARNING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Regime Classification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1828800" cy="1828800"/>
          </a:xfrm>
          <a:prstGeom prst="ellipse">
            <a:avLst/>
          </a:prstGeom>
          <a:solidFill>
            <a:srgbClr val="132048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89.49%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1417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Split: 80% / 20%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9202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· Bear · Sideways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384048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Sideways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Chart 0"/>
          <p:cNvGraphicFramePr/>
          <p:nvPr/>
        </p:nvGraphicFramePr>
        <p:xfrm>
          <a:off x="4480560" y="1207008"/>
          <a:ext cx="7406640" cy="507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3"/>
          <p:cNvSpPr/>
          <p:nvPr/>
        </p:nvSpPr>
        <p:spPr>
          <a:xfrm>
            <a:off x="457200" y="6263640"/>
            <a:ext cx="11274552" cy="457200"/>
          </a:xfrm>
          <a:prstGeom prst="roundRect">
            <a:avLst>
              <a:gd name="adj" fmla="val 20000"/>
            </a:avLst>
          </a:prstGeom>
          <a:solidFill>
            <a:srgbClr val="1E3A6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9436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+ Rolling Volatility together explain 52% of all regime shifts — confirming fear and volatility are the dominant market regime drivers.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6304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05–06 · ML VS DEEP LEARNING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207008"/>
          <a:ext cx="713232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525911" y="1207008"/>
            <a:ext cx="4572000" cy="3474720"/>
          </a:xfrm>
          <a:prstGeom prst="roundRect">
            <a:avLst>
              <a:gd name="adj" fmla="val 2632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690503" y="131673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Summary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719707"/>
              </p:ext>
            </p:extLst>
          </p:nvPr>
        </p:nvGraphicFramePr>
        <p:xfrm>
          <a:off x="7525911" y="1627632"/>
          <a:ext cx="4572000" cy="262432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525906" y="4852678"/>
            <a:ext cx="4572000" cy="1508760"/>
          </a:xfrm>
          <a:prstGeom prst="roundRect">
            <a:avLst>
              <a:gd name="adj" fmla="val 6061"/>
            </a:avLst>
          </a:prstGeom>
          <a:solidFill>
            <a:srgbClr val="1E3A6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7690498" y="492583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635634" y="5218438"/>
            <a:ext cx="43342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LSTM &amp; GRU produced NEGATIVE R² — worse than predicting the mean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Random Forest &amp; XGBoost: consistent positive R² and 64% accuracy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Daily returns ≈ random walk → deep learning overfits noise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6304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· SOFT COMPUTING — FUZZY LOGIC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Logic Risk Scoring System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207008"/>
          <a:ext cx="5029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760720" y="1207008"/>
            <a:ext cx="6126480" cy="2395728"/>
          </a:xfrm>
          <a:prstGeom prst="roundRect">
            <a:avLst>
              <a:gd name="adj" fmla="val 3817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43600" y="13167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Rule Set (Implemented)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25312" y="175564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108192" y="169164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VIX &lt; 15  AND  BTC_trend = BULL   →   BUY   signal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25312" y="2194560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108192" y="213055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VIX &gt; 25  OR   Rolling_Vol &gt; 0.05 →   SELL  signal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25312" y="263347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108192" y="2569464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OTHERWISE  (ambiguity zone)            →   HOLD  signal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25312" y="3072384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108192" y="3008376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Membership functions: Trapezoidal &amp; Triangular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60720" y="371246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Breakdown (11 Year Period)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4023360"/>
          <a:ext cx="612648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/ Uncertain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Protection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FA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FA3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false signals 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5760720" y="5760720"/>
            <a:ext cx="6126480" cy="868680"/>
          </a:xfrm>
          <a:prstGeom prst="roundRect">
            <a:avLst>
              <a:gd name="adj" fmla="val 10526"/>
            </a:avLst>
          </a:prstGeom>
          <a:solidFill>
            <a:srgbClr val="1E3A6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5897880" y="576072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BUY signals in 11 years — system never generated overconfident entry signals. 486 SELL signals provided defensive capital protection during downturns.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6304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07–08 · PORTFOLIO OPTIMIZATION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Portfolio Optimization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207008"/>
          <a:ext cx="5303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6035040" y="1207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Strategy Comparison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517904"/>
          <a:ext cx="6858000" cy="235915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C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C4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035040" y="3858768"/>
            <a:ext cx="5943600" cy="713232"/>
          </a:xfrm>
          <a:prstGeom prst="roundRect">
            <a:avLst>
              <a:gd name="adj" fmla="val 12821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6080760" y="3904488"/>
            <a:ext cx="804672" cy="530352"/>
          </a:xfrm>
          <a:prstGeom prst="roundRect">
            <a:avLst>
              <a:gd name="adj" fmla="val 8621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6080760" y="390448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56.3%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995160" y="3931920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995160" y="417880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stabilizer &amp; inflation hedge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4636008"/>
            <a:ext cx="5943600" cy="713232"/>
          </a:xfrm>
          <a:prstGeom prst="roundRect">
            <a:avLst>
              <a:gd name="adj" fmla="val 12821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080760" y="4681728"/>
            <a:ext cx="804672" cy="530352"/>
          </a:xfrm>
          <a:prstGeom prst="roundRect">
            <a:avLst>
              <a:gd name="adj" fmla="val 8621"/>
            </a:avLst>
          </a:prstGeom>
          <a:solidFill>
            <a:srgbClr val="4BA3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080760" y="468172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38.7%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995160" y="4709160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995160" y="495604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equity compounding growth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35040" y="5413248"/>
            <a:ext cx="5943600" cy="713232"/>
          </a:xfrm>
          <a:prstGeom prst="roundRect">
            <a:avLst>
              <a:gd name="adj" fmla="val 12821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6080760" y="5458968"/>
            <a:ext cx="804672" cy="530352"/>
          </a:xfrm>
          <a:prstGeom prst="roundRect">
            <a:avLst>
              <a:gd name="adj" fmla="val 8621"/>
            </a:avLst>
          </a:prstGeom>
          <a:solidFill>
            <a:srgbClr val="E85D5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6080760" y="545896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995160" y="5486400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995160" y="573328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asset — asymmetric upside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035040" y="6254496"/>
            <a:ext cx="5943600" cy="502920"/>
          </a:xfrm>
          <a:prstGeom prst="roundRect">
            <a:avLst>
              <a:gd name="adj" fmla="val 18182"/>
            </a:avLst>
          </a:prstGeom>
          <a:solidFill>
            <a:srgbClr val="1E3A6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6172200" y="6254496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Method: Genetic Algorithm (Max Sharpe)  |  Monte Carlo: 5,000 simulations  |  Strategies compared: Min Variance, Risk Parity, Max Sharpe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6304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KEY FINDINGS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Data-Driven Insights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30352" y="1335024"/>
            <a:ext cx="502920" cy="1060704"/>
          </a:xfrm>
          <a:prstGeom prst="roundRect">
            <a:avLst>
              <a:gd name="adj" fmla="val 10909"/>
            </a:avLst>
          </a:prstGeom>
          <a:solidFill>
            <a:srgbClr val="E85D5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0352" y="1335024"/>
            <a:ext cx="5029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3716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Bitcoin: High Risk, High Return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15568" y="173736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72% · Kurtosis 13.08 · VaR −5.8% · Not a consistent hedge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261872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336792" y="1335024"/>
            <a:ext cx="502920" cy="1060704"/>
          </a:xfrm>
          <a:prstGeom prst="roundRect">
            <a:avLst>
              <a:gd name="adj" fmla="val 10909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36792" y="1335024"/>
            <a:ext cx="5029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22008" y="13716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True Safe Haven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22008" y="173736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Corr. with equities = 0.02 · +21% during COVID crash · Lowest drawdown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587752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30352" y="2660904"/>
            <a:ext cx="502920" cy="1060704"/>
          </a:xfrm>
          <a:prstGeom prst="roundRect">
            <a:avLst>
              <a:gd name="adj" fmla="val 10909"/>
            </a:avLst>
          </a:prstGeom>
          <a:solidFill>
            <a:srgbClr val="E8C5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30352" y="2660904"/>
            <a:ext cx="5029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26974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Persistence = 0.921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15568" y="306324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shocks last for weeks · Dynamic risk management is essential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2587752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336792" y="2660904"/>
            <a:ext cx="502920" cy="1060704"/>
          </a:xfrm>
          <a:prstGeom prst="roundRect">
            <a:avLst>
              <a:gd name="adj" fmla="val 10909"/>
            </a:avLst>
          </a:prstGeom>
          <a:solidFill>
            <a:srgbClr val="27C9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36792" y="2660904"/>
            <a:ext cx="5029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22008" y="26974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Accuracy: 89.49%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22008" y="306324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+ Rolling Vol explain 52% of regimes · Classical ML outperforms DL here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913632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30352" y="3986784"/>
            <a:ext cx="502920" cy="1060704"/>
          </a:xfrm>
          <a:prstGeom prst="roundRect">
            <a:avLst>
              <a:gd name="adj" fmla="val 10909"/>
            </a:avLst>
          </a:prstGeom>
          <a:solidFill>
            <a:srgbClr val="E85D5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30352" y="3986784"/>
            <a:ext cx="5029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15568" y="40233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GRU Failed (R² &lt; 0)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15568" y="438912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worse than mean prediction · Daily returns ≈ random walk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3913632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336792" y="3986784"/>
            <a:ext cx="502920" cy="1060704"/>
          </a:xfrm>
          <a:prstGeom prst="roundRect">
            <a:avLst>
              <a:gd name="adj" fmla="val 10909"/>
            </a:avLst>
          </a:prstGeom>
          <a:solidFill>
            <a:srgbClr val="4BA3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36792" y="3986784"/>
            <a:ext cx="5029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22008" y="40233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Logic: 0 False BUY signals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22008" y="438912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2,326 HOLD · 486 SELL · Defensive &amp; interpretable risk management system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5239512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30352" y="5312664"/>
            <a:ext cx="502920" cy="1060704"/>
          </a:xfrm>
          <a:prstGeom prst="roundRect">
            <a:avLst>
              <a:gd name="adj" fmla="val 10909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30352" y="5312664"/>
            <a:ext cx="5029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15568" y="53492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Optimal: Gold 56% / SP 39% / BTC 5%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115568" y="571500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0.67 · Expected Return ~11.2% · Portfolio survived all crises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63640" y="5239512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336792" y="5312664"/>
            <a:ext cx="502920" cy="1060704"/>
          </a:xfrm>
          <a:prstGeom prst="roundRect">
            <a:avLst>
              <a:gd name="adj" fmla="val 10909"/>
            </a:avLst>
          </a:prstGeom>
          <a:solidFill>
            <a:srgbClr val="8FA3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336792" y="5312664"/>
            <a:ext cx="5029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22008" y="53492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Deployed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922008" y="571500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· 3D Frontier · KMeans Regime Detection · SIP Calculator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6304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2C4A7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5486400" cy="5349240"/>
          </a:xfrm>
          <a:prstGeom prst="roundRect">
            <a:avLst>
              <a:gd name="adj" fmla="val 1709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64008" cy="534924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131673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" y="184708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1773936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optimization produces superior risk-adjusted portfolios vs. equal-weight allocation.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4944" y="254203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246888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Bitcoin allocation captures asymmetric upside while keeping tail risk controlled.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4944" y="323697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3163824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(Random Forest) is more reliable than deep learning for daily financial returns.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4944" y="39319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3858768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modeling reveals that volatility shocks persist — static risk measures are insufficient.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" y="462686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4553712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Logic provides interpretable, conservative trade signals ideal for institutional use.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4944" y="532180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4400" y="5248656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optimized portfolio survived COVID, inflation, and bull cycles better than any single asset.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1207008"/>
            <a:ext cx="5486400" cy="5349240"/>
          </a:xfrm>
          <a:prstGeom prst="roundRect">
            <a:avLst>
              <a:gd name="adj" fmla="val 1709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17920" y="1207008"/>
            <a:ext cx="64008" cy="5349240"/>
          </a:xfrm>
          <a:prstGeom prst="rect">
            <a:avLst/>
          </a:prstGeom>
          <a:solidFill>
            <a:srgbClr val="E8C5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19088" y="131673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37376" y="18470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37376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86016" y="184708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NLP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986016" y="20665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Twitter/X &amp; news sentiment to predict BTC regime shifts in real-time.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37376" y="254203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37376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86016" y="254203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Expansion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86016" y="2761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bonds (TLT), REITs, commodities, and altcoins to the portfolio.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37376" y="323697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37376" y="3236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86016" y="323697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986016" y="3456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broker APIs (Alpaca / Zerodha) for live paper trading.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37376" y="39319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37376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86016" y="393192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DL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86016" y="4151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Temporal Fusion Transformer — state-of-art for time-series.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37376" y="462686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437376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86016" y="462686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986016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Streamlit app to AWS/GCP for scalable real-time access.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37376" y="532180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37376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86016" y="532180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986016" y="55412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agents to dynamically rebalance the portfolio daily.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12192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961120" y="3200400"/>
            <a:ext cx="4572000" cy="4572000"/>
          </a:xfrm>
          <a:prstGeom prst="ellipse">
            <a:avLst/>
          </a:prstGeom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418320" y="3657600"/>
            <a:ext cx="3657600" cy="3657600"/>
          </a:xfrm>
          <a:prstGeom prst="ellipse">
            <a:avLst/>
          </a:prstGeom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875520" y="4114800"/>
            <a:ext cx="2743200" cy="2743200"/>
          </a:xfrm>
          <a:prstGeom prst="ellipse">
            <a:avLst/>
          </a:prstGeom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4572000" cy="45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4015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Financial Analysis of Bitcoin · Gold · S&amp;P 500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C5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Modeling  |  Volatility Analysis  |  Portfolio Optimization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48200"/>
            <a:ext cx="5486400" cy="1524000"/>
          </a:xfrm>
          <a:prstGeom prst="roundRect">
            <a:avLst>
              <a:gd name="adj" fmla="val 4762"/>
            </a:avLst>
          </a:prstGeom>
          <a:solidFill>
            <a:srgbClr val="1A2F5E"/>
          </a:solidFill>
          <a:ln w="12700">
            <a:solidFill>
              <a:srgbClr val="2C4A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4809744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4809744"/>
            <a:ext cx="3383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[Dr. Nikita /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Dr.Jimmy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Singla]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21208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5212080"/>
            <a:ext cx="3383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&amp; Data  Engineering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614416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5614416"/>
            <a:ext cx="3383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1985</Words>
  <Application>Microsoft Office PowerPoint</Application>
  <PresentationFormat>Widescreen</PresentationFormat>
  <Paragraphs>384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BTC vs Gold vs S&amp;P 500 - MBA Final Project</dc:title>
  <dc:subject>PptxGenJS Presentation</dc:subject>
  <dc:creator>Financial Analysis Team</dc:creator>
  <cp:lastModifiedBy>Taranjeet Singh</cp:lastModifiedBy>
  <cp:revision>3</cp:revision>
  <dcterms:created xsi:type="dcterms:W3CDTF">2026-07-19T10:21:04Z</dcterms:created>
  <dcterms:modified xsi:type="dcterms:W3CDTF">2026-07-27T09:44:17Z</dcterms:modified>
</cp:coreProperties>
</file>